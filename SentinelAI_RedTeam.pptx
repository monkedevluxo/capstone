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ieGnlSu2EaeWTm6ZPNGdGgVR9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0040" y="320040"/>
            <a:ext cx="45720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320040"/>
            <a:ext cx="27432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384280" y="320040"/>
            <a:ext cx="45720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1814048" y="320040"/>
            <a:ext cx="27432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20040" y="6510528"/>
            <a:ext cx="45720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20040" y="6080760"/>
            <a:ext cx="27432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384280" y="6510528"/>
            <a:ext cx="457200" cy="274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1814048" y="6080760"/>
            <a:ext cx="27432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2296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RED TEAM DOSSIER — CLASIFICADO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1554480"/>
            <a:ext cx="1280160" cy="1280160"/>
          </a:xfrm>
          <a:prstGeom prst="roundRect">
            <a:avLst>
              <a:gd fmla="val 3571" name="adj"/>
            </a:avLst>
          </a:prstGeom>
          <a:solidFill>
            <a:srgbClr val="1B1E2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198" y="1861718"/>
            <a:ext cx="665683" cy="66568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777240" y="30632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6200"/>
              <a:buFont typeface="Consolas"/>
              <a:buNone/>
            </a:pPr>
            <a:r>
              <a:rPr b="1" i="0" lang="en-US" sz="6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SentinelAI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868680" y="4160520"/>
            <a:ext cx="2926080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868680" y="4297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Plataforma de Pentesting Web Asistida por 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&gt; reconocimiento · análisis · correlación con IA · reporte ofensivo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OPERACIÓN EN LABORATORIO CONTROLADO  ·  EQUIPO DE 3 OPERADORES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01 — MISIÓN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¿QUÉ ES SENTINELAI?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640080" y="1783080"/>
            <a:ext cx="10881360" cy="1874520"/>
          </a:xfrm>
          <a:prstGeom prst="roundRect">
            <a:avLst>
              <a:gd fmla="val 1951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n-US" sz="15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SentinelAI automatiza el ciclo de pentesting web dentro de un laboratorio aislado. Un escáner analiza una aplicación deliberadamente vulnerable y una IA local interpreta cada hallazgo: lo explica, lo prioriza, reduce falsos positivos, lo clasifica según el OWASP Top 10 y redacta informes técnicos y ejecutivos, visibles en un dashboard.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3977640"/>
            <a:ext cx="3502152" cy="2103120"/>
          </a:xfrm>
          <a:prstGeom prst="roundRect">
            <a:avLst>
              <a:gd fmla="val 1739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2"/>
          <p:cNvCxnSpPr/>
          <p:nvPr/>
        </p:nvCxnSpPr>
        <p:spPr>
          <a:xfrm>
            <a:off x="640080" y="3977640"/>
            <a:ext cx="0" cy="21031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914400" y="4206240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938" y="4392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828800" y="4315968"/>
            <a:ext cx="2221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RECONOCIMIENTO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32688" y="51663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Escaneo automatizado del objetivo.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25112" y="3977640"/>
            <a:ext cx="3502152" cy="2103120"/>
          </a:xfrm>
          <a:prstGeom prst="roundRect">
            <a:avLst>
              <a:gd fmla="val 1739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2"/>
          <p:cNvCxnSpPr/>
          <p:nvPr/>
        </p:nvCxnSpPr>
        <p:spPr>
          <a:xfrm>
            <a:off x="4325112" y="3977640"/>
            <a:ext cx="0" cy="21031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4599432" y="4206240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5970" y="4392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5513832" y="4315968"/>
            <a:ext cx="2221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IA LOCAL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17720" y="51663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Correlación, priorización y mapeo OWASP.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010144" y="3977640"/>
            <a:ext cx="3502152" cy="2103120"/>
          </a:xfrm>
          <a:prstGeom prst="roundRect">
            <a:avLst>
              <a:gd fmla="val 1739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" name="Google Shape;55;p2"/>
          <p:cNvCxnSpPr/>
          <p:nvPr/>
        </p:nvCxnSpPr>
        <p:spPr>
          <a:xfrm>
            <a:off x="8010144" y="3977640"/>
            <a:ext cx="0" cy="21031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/>
          <p:nvPr/>
        </p:nvSpPr>
        <p:spPr>
          <a:xfrm>
            <a:off x="8284464" y="4206240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1002" y="4392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9198864" y="4315968"/>
            <a:ext cx="2221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302752" y="51663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Informes técnicos y ejecutivos + dashboard.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02 — OBJETIVO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EL PROBLEMA A NEUTRALIZAR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640080" y="1828800"/>
            <a:ext cx="10881360" cy="932688"/>
          </a:xfrm>
          <a:prstGeom prst="roundRect">
            <a:avLst>
              <a:gd fmla="val 392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41248" y="2020824"/>
            <a:ext cx="548640" cy="548640"/>
          </a:xfrm>
          <a:prstGeom prst="roundRect">
            <a:avLst>
              <a:gd fmla="val 8333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2" y="215249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600200" y="1828800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[!]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240280" y="1947672"/>
            <a:ext cx="9052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Volumen de hallazgos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Cada escáner arroja decenas o cientos de alertas por objetivo.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2852928"/>
            <a:ext cx="10881360" cy="932688"/>
          </a:xfrm>
          <a:prstGeom prst="roundRect">
            <a:avLst>
              <a:gd fmla="val 392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41248" y="3044952"/>
            <a:ext cx="548640" cy="548640"/>
          </a:xfrm>
          <a:prstGeom prst="roundRect">
            <a:avLst>
              <a:gd fmla="val 8333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2" y="317662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1600200" y="2852928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[!]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240280" y="2971800"/>
            <a:ext cx="9052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Duplicados y falsos positivos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Herramientas distintas reportan lo mismo con ruido.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0080" y="3877056"/>
            <a:ext cx="10881360" cy="932688"/>
          </a:xfrm>
          <a:prstGeom prst="roundRect">
            <a:avLst>
              <a:gd fmla="val 392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41248" y="4069080"/>
            <a:ext cx="548640" cy="548640"/>
          </a:xfrm>
          <a:prstGeom prst="roundRect">
            <a:avLst>
              <a:gd fmla="val 8333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2" y="42007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600200" y="3877056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[!]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240280" y="3995928"/>
            <a:ext cx="9052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Reporte manual y lento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Interpretar y redactar consume el tiempo del operador.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0080" y="4901184"/>
            <a:ext cx="10881360" cy="932688"/>
          </a:xfrm>
          <a:prstGeom prst="roundRect">
            <a:avLst>
              <a:gd fmla="val 392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41248" y="5093208"/>
            <a:ext cx="548640" cy="548640"/>
          </a:xfrm>
          <a:prstGeom prst="roundRect">
            <a:avLst>
              <a:gd fmla="val 8333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2" y="522488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600200" y="4901184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[!]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240280" y="5020056"/>
            <a:ext cx="9052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Fatiga de alertas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El ruido oculta los hallazgos realmente críticos.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03 — CADENA DE OPERACIÓN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DEL OBJETIVO AL INFORME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566928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4"/>
          <p:cNvCxnSpPr/>
          <p:nvPr/>
        </p:nvCxnSpPr>
        <p:spPr>
          <a:xfrm>
            <a:off x="566928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676656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88136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479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621792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ESCANEAR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58368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Nikto + ZAP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sobre el objetivo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350008" y="320040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496312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4"/>
          <p:cNvCxnSpPr/>
          <p:nvPr/>
        </p:nvCxnSpPr>
        <p:spPr>
          <a:xfrm>
            <a:off x="2496312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2606040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017520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1863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2551176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NORMALIZAR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587752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Unificar salidas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 JSON común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279392" y="320040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425696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4"/>
          <p:cNvCxnSpPr/>
          <p:nvPr/>
        </p:nvCxnSpPr>
        <p:spPr>
          <a:xfrm>
            <a:off x="4425696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4535424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946904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1247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4480560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IA · ENRIQUECER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17136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Explicar, priorizar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mapear OWASP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208776" y="320040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355080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>
            <a:off x="6355080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4"/>
          <p:cNvSpPr/>
          <p:nvPr/>
        </p:nvSpPr>
        <p:spPr>
          <a:xfrm>
            <a:off x="6464808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876288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0631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6409944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CORRELACIONAR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46520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Agrupar y quitar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duplicados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138160" y="320040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84464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4"/>
          <p:cNvCxnSpPr/>
          <p:nvPr/>
        </p:nvCxnSpPr>
        <p:spPr>
          <a:xfrm>
            <a:off x="8284464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8394192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805672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0015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8339328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REPORTAR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375904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Informe técnico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y ejecutivo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067544" y="320040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213848" y="2148840"/>
            <a:ext cx="1810512" cy="3200400"/>
          </a:xfrm>
          <a:prstGeom prst="roundRect">
            <a:avLst>
              <a:gd fmla="val 2525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4"/>
          <p:cNvCxnSpPr/>
          <p:nvPr/>
        </p:nvCxnSpPr>
        <p:spPr>
          <a:xfrm>
            <a:off x="10213848" y="2148840"/>
            <a:ext cx="181051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4"/>
          <p:cNvSpPr/>
          <p:nvPr/>
        </p:nvSpPr>
        <p:spPr>
          <a:xfrm>
            <a:off x="10323576" y="2240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0735056" y="2697480"/>
            <a:ext cx="768096" cy="768096"/>
          </a:xfrm>
          <a:prstGeom prst="roundRect">
            <a:avLst>
              <a:gd fmla="val 595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19399" y="2881823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10268712" y="3611880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VISUALIZAR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0305288" y="4114800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Dashboard con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[ REGLA ]  La IA interpreta los hallazgos de los escáneres — nunca los inventa. Cada resultado conserva su dato crudo para trazabilidad.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04 — ARSENAL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RECONOCIMIENTO &amp; OBJETIVOS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&gt; escáneres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40080" y="201168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96112" y="228600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622" y="2483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1874520" y="230428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OWASP ZAP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874520" y="272491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Escáner web dinámico (DAST)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96112" y="315468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896112" y="31546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ACTIVO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325112" y="201168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581144" y="228600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8654" y="2483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5559552" y="230428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Nikto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559552" y="272491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Escáner de servidor web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81144" y="315468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581144" y="31546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RECON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010144" y="201168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266176" y="228600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3686" y="24835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9244584" y="230428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OpenVAS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9244584" y="272491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Escáner de infraestructura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8266176" y="315468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8266176" y="31546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[ OPCIONAL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&gt; objetivos vulnerables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40080" y="411480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96112" y="438912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622" y="45866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1874520" y="440740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DVWA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874520" y="482803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Damn Vulnerable Web 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896112" y="525780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896112" y="52578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[ TARGET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325112" y="411480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581144" y="438912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8654" y="45866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/>
          <p:nvPr/>
        </p:nvSpPr>
        <p:spPr>
          <a:xfrm>
            <a:off x="5559552" y="440740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Juice Shop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559552" y="482803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App moderna vulnerable (OWASP)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581144" y="525780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581144" y="52578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[ TARGET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010144" y="4114800"/>
            <a:ext cx="3502152" cy="1600200"/>
          </a:xfrm>
          <a:prstGeom prst="roundRect">
            <a:avLst>
              <a:gd fmla="val 2857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266176" y="4389120"/>
            <a:ext cx="822960" cy="822960"/>
          </a:xfrm>
          <a:prstGeom prst="roundRect">
            <a:avLst>
              <a:gd fmla="val 5556" name="adj"/>
            </a:avLst>
          </a:prstGeom>
          <a:solidFill>
            <a:srgbClr val="232732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3686" y="458663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/>
          <p:nvPr/>
        </p:nvSpPr>
        <p:spPr>
          <a:xfrm>
            <a:off x="9244584" y="4407408"/>
            <a:ext cx="2130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WebGoat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9244584" y="4828032"/>
            <a:ext cx="2130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Plataforma de entrenamiento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266176" y="5257800"/>
            <a:ext cx="1463040" cy="292608"/>
          </a:xfrm>
          <a:prstGeom prst="roundRect">
            <a:avLst>
              <a:gd fmla="val 9375" name="adj"/>
            </a:avLst>
          </a:prstGeom>
          <a:solidFill>
            <a:srgbClr val="0B0C10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8266176" y="52578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[ TARGET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05 — ARSENAL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PLATAFORMA &amp;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6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6"/>
          <p:cNvCxnSpPr/>
          <p:nvPr/>
        </p:nvCxnSpPr>
        <p:spPr>
          <a:xfrm>
            <a:off x="640080" y="1783080"/>
            <a:ext cx="0" cy="14173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6"/>
          <p:cNvSpPr/>
          <p:nvPr/>
        </p:nvSpPr>
        <p:spPr>
          <a:xfrm>
            <a:off x="896112" y="2039112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650" y="2225650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1810512" y="205740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Python + FastAPI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810512" y="245973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Orquestador central de la operación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14400" y="28163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C2 / BACKEND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6"/>
          <p:cNvCxnSpPr/>
          <p:nvPr/>
        </p:nvCxnSpPr>
        <p:spPr>
          <a:xfrm>
            <a:off x="6172200" y="1783080"/>
            <a:ext cx="0" cy="14173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6"/>
          <p:cNvSpPr/>
          <p:nvPr/>
        </p:nvSpPr>
        <p:spPr>
          <a:xfrm>
            <a:off x="6428232" y="2039112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70" y="2225650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/>
          <p:nvPr/>
        </p:nvSpPr>
        <p:spPr>
          <a:xfrm>
            <a:off x="7342632" y="205740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Ollama + qwen3:8b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342632" y="245973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IA local: análisis y redacción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446520" y="28163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AI · LOCAL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40080" y="333756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6"/>
          <p:cNvCxnSpPr/>
          <p:nvPr/>
        </p:nvCxnSpPr>
        <p:spPr>
          <a:xfrm>
            <a:off x="640080" y="3337560"/>
            <a:ext cx="0" cy="14173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/>
          <p:nvPr/>
        </p:nvSpPr>
        <p:spPr>
          <a:xfrm>
            <a:off x="896112" y="3593592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650" y="3780130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/>
          <p:nvPr/>
        </p:nvSpPr>
        <p:spPr>
          <a:xfrm>
            <a:off x="1810512" y="361188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810512" y="401421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Persistencia de hallazgos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914400" y="437083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DB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172200" y="333756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6"/>
          <p:cNvCxnSpPr/>
          <p:nvPr/>
        </p:nvCxnSpPr>
        <p:spPr>
          <a:xfrm>
            <a:off x="6172200" y="3337560"/>
            <a:ext cx="0" cy="14173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6"/>
          <p:cNvSpPr/>
          <p:nvPr/>
        </p:nvSpPr>
        <p:spPr>
          <a:xfrm>
            <a:off x="6428232" y="3593592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70" y="3780130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7342632" y="361188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Docker + Compose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342632" y="401421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Despliegue aislado y reproducible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446520" y="437083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INFRA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40080" y="489204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6"/>
          <p:cNvCxnSpPr/>
          <p:nvPr/>
        </p:nvCxnSpPr>
        <p:spPr>
          <a:xfrm>
            <a:off x="640080" y="4892040"/>
            <a:ext cx="0" cy="141732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6"/>
          <p:cNvSpPr/>
          <p:nvPr/>
        </p:nvSpPr>
        <p:spPr>
          <a:xfrm>
            <a:off x="896112" y="5148072"/>
            <a:ext cx="777240" cy="777240"/>
          </a:xfrm>
          <a:prstGeom prst="roundRect">
            <a:avLst>
              <a:gd fmla="val 5882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2650" y="5334610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/>
          <p:nvPr/>
        </p:nvSpPr>
        <p:spPr>
          <a:xfrm>
            <a:off x="1810512" y="516636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810512" y="556869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Repositorio: fuente única de verdad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914400" y="5925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REPO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fmla="val 3226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400800" y="5029200"/>
            <a:ext cx="4892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[+] </a:t>
            </a:r>
            <a:r>
              <a:rPr b="0" i="0" lang="en-US" sz="12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Todo el stack es open source y gratuito. La IA corre en local: ningún dato sale de la máquina.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06 — INTELIGENCIA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CÓMO OPERA LA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7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7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fmla="val 3636" name="adj"/>
            </a:avLst>
          </a:prstGeom>
          <a:solidFill>
            <a:srgbClr val="1B1E2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914400" y="1901952"/>
            <a:ext cx="1033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[ SALIDA ESTRUCTURADA ]  </a:t>
            </a: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Se entrega un esquema JSON → Ollama restringe la decodificación → JSON válido garantizado. No es “responde en JSON y reza”: es una restricción, no una petición.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40080" y="3063240"/>
            <a:ext cx="2651760" cy="2286000"/>
          </a:xfrm>
          <a:prstGeom prst="roundRect">
            <a:avLst>
              <a:gd fmla="val 200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1527048" y="3291840"/>
            <a:ext cx="877824" cy="877824"/>
          </a:xfrm>
          <a:prstGeom prst="roundRect">
            <a:avLst>
              <a:gd fmla="val 5208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726" y="3502518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749808" y="42976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CORRELACIONAR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822960" y="468172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Agrupa y deduplica hallazgos equivalentes.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502152" y="3063240"/>
            <a:ext cx="2651760" cy="2286000"/>
          </a:xfrm>
          <a:prstGeom prst="roundRect">
            <a:avLst>
              <a:gd fmla="val 200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389120" y="3291840"/>
            <a:ext cx="877824" cy="877824"/>
          </a:xfrm>
          <a:prstGeom prst="roundRect">
            <a:avLst>
              <a:gd fmla="val 5208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9798" y="3502518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/>
          <p:nvPr/>
        </p:nvSpPr>
        <p:spPr>
          <a:xfrm>
            <a:off x="3611880" y="42976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ENRIQUECER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685032" y="468172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Añade impacto y remediación a cada hallazgo.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364224" y="3063240"/>
            <a:ext cx="2651760" cy="2286000"/>
          </a:xfrm>
          <a:prstGeom prst="roundRect">
            <a:avLst>
              <a:gd fmla="val 200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7251192" y="3291840"/>
            <a:ext cx="877824" cy="877824"/>
          </a:xfrm>
          <a:prstGeom prst="roundRect">
            <a:avLst>
              <a:gd fmla="val 5208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870" y="3502518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/>
          <p:nvPr/>
        </p:nvSpPr>
        <p:spPr>
          <a:xfrm>
            <a:off x="6473952" y="42976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PRIORIZAR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547104" y="468172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Ordena por riesgo y reduce falsos positivos.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226296" y="3063240"/>
            <a:ext cx="2651760" cy="2286000"/>
          </a:xfrm>
          <a:prstGeom prst="roundRect">
            <a:avLst>
              <a:gd fmla="val 200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0113264" y="3291840"/>
            <a:ext cx="877824" cy="877824"/>
          </a:xfrm>
          <a:prstGeom prst="roundRect">
            <a:avLst>
              <a:gd fmla="val 5208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23942" y="3502518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/>
          <p:nvPr/>
        </p:nvSpPr>
        <p:spPr>
          <a:xfrm>
            <a:off x="9336024" y="42976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MAPEAR OWASP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409176" y="468172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Clasifica en la categoría del OWASP Top 10.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&gt; procesamiento hallazgo por hallazgo · anti-alucinación: la IA interpreta, nunca inventa · trazabilidad garantizada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9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07 — REGLAS DE ENFRENTAMIENTO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ÉTICA &amp; MARCO LEGAL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8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fmla="val 381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868680" y="2029968"/>
            <a:ext cx="566928" cy="566928"/>
          </a:xfrm>
          <a:prstGeom prst="roundRect">
            <a:avLst>
              <a:gd fmla="val 8065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743" y="216603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1691640" y="1947672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Solo laboratorio aislado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257800" y="1947672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Pruebas únicamente sobre apps vulnerables, en red sin salida a internet.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40080" y="2889504"/>
            <a:ext cx="10881360" cy="960120"/>
          </a:xfrm>
          <a:prstGeom prst="roundRect">
            <a:avLst>
              <a:gd fmla="val 381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868680" y="3090672"/>
            <a:ext cx="566928" cy="566928"/>
          </a:xfrm>
          <a:prstGeom prst="roundRect">
            <a:avLst>
              <a:gd fmla="val 8065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743" y="322673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8"/>
          <p:cNvSpPr/>
          <p:nvPr/>
        </p:nvSpPr>
        <p:spPr>
          <a:xfrm>
            <a:off x="1691640" y="3008376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Nunca objetivos reales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257800" y="3008376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No se ataca infraestructura de terceros sin autorización por escrito.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40080" y="3950208"/>
            <a:ext cx="10881360" cy="960120"/>
          </a:xfrm>
          <a:prstGeom prst="roundRect">
            <a:avLst>
              <a:gd fmla="val 381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868680" y="4151376"/>
            <a:ext cx="566928" cy="566928"/>
          </a:xfrm>
          <a:prstGeom prst="roundRect">
            <a:avLst>
              <a:gd fmla="val 8065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743" y="4287439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8"/>
          <p:cNvSpPr/>
          <p:nvPr/>
        </p:nvSpPr>
        <p:spPr>
          <a:xfrm>
            <a:off x="1691640" y="40690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Cumplimiento Ley 21.459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257800" y="406908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El marco legal chileno sobre delitos informáticos guía toda la operación.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40080" y="5010912"/>
            <a:ext cx="10881360" cy="960120"/>
          </a:xfrm>
          <a:prstGeom prst="roundRect">
            <a:avLst>
              <a:gd fmla="val 3810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868680" y="5212080"/>
            <a:ext cx="566928" cy="566928"/>
          </a:xfrm>
          <a:prstGeom prst="roundRect">
            <a:avLst>
              <a:gd fmla="val 8065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743" y="53481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/>
          <p:nvPr/>
        </p:nvSpPr>
        <p:spPr>
          <a:xfrm>
            <a:off x="1691640" y="5129784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Higiene operacional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257800" y="5129784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No se versionan secretos, credenciales ni resultados de escaneos.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08 — CRONOGRAMA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FASES DE LA OPERACIÓN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9"/>
          <p:cNvSpPr/>
          <p:nvPr/>
        </p:nvSpPr>
        <p:spPr>
          <a:xfrm>
            <a:off x="640080" y="1828800"/>
            <a:ext cx="3566160" cy="4023360"/>
          </a:xfrm>
          <a:prstGeom prst="roundRect">
            <a:avLst>
              <a:gd fmla="val 128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40080" y="1828800"/>
            <a:ext cx="3566160" cy="1051560"/>
          </a:xfrm>
          <a:prstGeom prst="roundRect">
            <a:avLst>
              <a:gd fmla="val 4348" name="adj"/>
            </a:avLst>
          </a:prstGeom>
          <a:solidFill>
            <a:srgbClr val="23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9"/>
          <p:cNvCxnSpPr/>
          <p:nvPr/>
        </p:nvCxnSpPr>
        <p:spPr>
          <a:xfrm>
            <a:off x="640080" y="1828800"/>
            <a:ext cx="3566160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9"/>
          <p:cNvSpPr/>
          <p:nvPr/>
        </p:nvSpPr>
        <p:spPr>
          <a:xfrm>
            <a:off x="896112" y="19385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FASE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96112" y="23957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S1–S6  //  DESPLIEGUE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60120" y="3200400"/>
            <a:ext cx="2971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Definición y laboratorio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Automatización de escaneo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Normalización a JSON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480560" y="1828800"/>
            <a:ext cx="3566160" cy="4023360"/>
          </a:xfrm>
          <a:prstGeom prst="roundRect">
            <a:avLst>
              <a:gd fmla="val 128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480560" y="1828800"/>
            <a:ext cx="3566160" cy="1051560"/>
          </a:xfrm>
          <a:prstGeom prst="roundRect">
            <a:avLst>
              <a:gd fmla="val 4348" name="adj"/>
            </a:avLst>
          </a:prstGeom>
          <a:solidFill>
            <a:srgbClr val="7E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9"/>
          <p:cNvCxnSpPr/>
          <p:nvPr/>
        </p:nvCxnSpPr>
        <p:spPr>
          <a:xfrm>
            <a:off x="4480560" y="1828800"/>
            <a:ext cx="3566160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9"/>
          <p:cNvSpPr/>
          <p:nvPr/>
        </p:nvSpPr>
        <p:spPr>
          <a:xfrm>
            <a:off x="4736592" y="19385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FASE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736592" y="23957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S7–S12  //  INFILTRACIÓN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800600" y="3200400"/>
            <a:ext cx="2971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Integración de la 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Correlación y priorización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Mapeo OWASP + informes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321040" y="1828800"/>
            <a:ext cx="3566160" cy="4023360"/>
          </a:xfrm>
          <a:prstGeom prst="roundRect">
            <a:avLst>
              <a:gd fmla="val 1282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8321040" y="1828800"/>
            <a:ext cx="3566160" cy="1051560"/>
          </a:xfrm>
          <a:prstGeom prst="roundRect">
            <a:avLst>
              <a:gd fmla="val 4348" name="adj"/>
            </a:avLst>
          </a:prstGeom>
          <a:solidFill>
            <a:srgbClr val="232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9" name="Google Shape;329;p9"/>
          <p:cNvCxnSpPr/>
          <p:nvPr/>
        </p:nvCxnSpPr>
        <p:spPr>
          <a:xfrm>
            <a:off x="8321040" y="1828800"/>
            <a:ext cx="3566160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9"/>
          <p:cNvSpPr/>
          <p:nvPr/>
        </p:nvSpPr>
        <p:spPr>
          <a:xfrm>
            <a:off x="8577072" y="19385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FASE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577072" y="23957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S13–S18  //  EXFILTRACIÓN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8641080" y="3200400"/>
            <a:ext cx="2971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Validación vs. manual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2F4F8"/>
              </a:buClr>
              <a:buSzPts val="1350"/>
              <a:buFont typeface="Calibri"/>
              <a:buChar char="›"/>
            </a:pPr>
            <a:r>
              <a:rPr b="0" i="0" lang="en-US" sz="1350" u="none" cap="none" strike="noStrike">
                <a:solidFill>
                  <a:srgbClr val="F2F4F8"/>
                </a:solidFill>
                <a:latin typeface="Calibri"/>
                <a:ea typeface="Calibri"/>
                <a:cs typeface="Calibri"/>
                <a:sym typeface="Calibri"/>
              </a:rPr>
              <a:t>Documentación y defensa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09 — ESCUADRÓN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3200"/>
              <a:buFont typeface="Consolas"/>
              <a:buNone/>
            </a:pPr>
            <a:r>
              <a:rPr b="1" i="0" lang="en-US" sz="32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3 OPERADORES · ROLES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658368" y="1481328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0"/>
          <p:cNvSpPr/>
          <p:nvPr/>
        </p:nvSpPr>
        <p:spPr>
          <a:xfrm>
            <a:off x="640080" y="2011680"/>
            <a:ext cx="3502152" cy="3383280"/>
          </a:xfrm>
          <a:prstGeom prst="roundRect">
            <a:avLst>
              <a:gd fmla="val 1351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10"/>
          <p:cNvCxnSpPr/>
          <p:nvPr/>
        </p:nvCxnSpPr>
        <p:spPr>
          <a:xfrm>
            <a:off x="640080" y="2011680"/>
            <a:ext cx="350215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0"/>
          <p:cNvSpPr/>
          <p:nvPr/>
        </p:nvSpPr>
        <p:spPr>
          <a:xfrm>
            <a:off x="1842516" y="2331720"/>
            <a:ext cx="1097280" cy="1097280"/>
          </a:xfrm>
          <a:prstGeom prst="roundRect">
            <a:avLst>
              <a:gd fmla="val 4167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863" y="259506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>
            <a:off x="822960" y="3611880"/>
            <a:ext cx="3136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OPERADOR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22960" y="3977640"/>
            <a:ext cx="3136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LÍDER /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914400" y="44805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Arquitectura general e integración del componente de inteligencia artificial.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325112" y="2011680"/>
            <a:ext cx="3502152" cy="3383280"/>
          </a:xfrm>
          <a:prstGeom prst="roundRect">
            <a:avLst>
              <a:gd fmla="val 1351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10"/>
          <p:cNvCxnSpPr/>
          <p:nvPr/>
        </p:nvCxnSpPr>
        <p:spPr>
          <a:xfrm>
            <a:off x="4325112" y="2011680"/>
            <a:ext cx="350215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0"/>
          <p:cNvSpPr/>
          <p:nvPr/>
        </p:nvSpPr>
        <p:spPr>
          <a:xfrm>
            <a:off x="5527548" y="2331720"/>
            <a:ext cx="1097280" cy="1097280"/>
          </a:xfrm>
          <a:prstGeom prst="roundRect">
            <a:avLst>
              <a:gd fmla="val 4167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895" y="259506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4507992" y="3611880"/>
            <a:ext cx="3136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OPERADOR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507992" y="3977640"/>
            <a:ext cx="3136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RECON /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599432" y="44805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Automatización de escáneres, backend y normalización de resultados.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010144" y="2011680"/>
            <a:ext cx="3502152" cy="3383280"/>
          </a:xfrm>
          <a:prstGeom prst="roundRect">
            <a:avLst>
              <a:gd fmla="val 1351" name="adj"/>
            </a:avLst>
          </a:prstGeom>
          <a:solidFill>
            <a:srgbClr val="1B1E2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10"/>
          <p:cNvCxnSpPr/>
          <p:nvPr/>
        </p:nvCxnSpPr>
        <p:spPr>
          <a:xfrm>
            <a:off x="8010144" y="2011680"/>
            <a:ext cx="3502152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0"/>
          <p:cNvSpPr/>
          <p:nvPr/>
        </p:nvSpPr>
        <p:spPr>
          <a:xfrm>
            <a:off x="9212580" y="2331720"/>
            <a:ext cx="1097280" cy="1097280"/>
          </a:xfrm>
          <a:prstGeom prst="roundRect">
            <a:avLst>
              <a:gd fmla="val 4167" name="adj"/>
            </a:avLst>
          </a:prstGeom>
          <a:solidFill>
            <a:srgbClr val="23273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5927" y="259506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/>
          <p:nvPr/>
        </p:nvSpPr>
        <p:spPr>
          <a:xfrm>
            <a:off x="8193024" y="3611880"/>
            <a:ext cx="3136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OPERADOR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193024" y="3977640"/>
            <a:ext cx="31363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2F4F8"/>
                </a:solidFill>
                <a:latin typeface="Consolas"/>
                <a:ea typeface="Consolas"/>
                <a:cs typeface="Consolas"/>
                <a:sym typeface="Consolas"/>
              </a:rPr>
              <a:t>REPORTE / VALIDACIÓN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284464" y="4480560"/>
            <a:ext cx="29535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3"/>
                </a:solidFill>
                <a:latin typeface="Calibri"/>
                <a:ea typeface="Calibri"/>
                <a:cs typeface="Calibri"/>
                <a:sym typeface="Calibri"/>
              </a:rPr>
              <a:t>Dashboard, montaje del laboratorio y validación contra análisis manual.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// FIN DE TRANSMISIÓN — la documentación completa vive en el repositorio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3A3"/>
                </a:solidFill>
                <a:latin typeface="Consolas"/>
                <a:ea typeface="Consolas"/>
                <a:cs typeface="Consolas"/>
                <a:sym typeface="Consolas"/>
              </a:rPr>
              <a:t>//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2026-08-20T23:05:00Z</dcterms:created>
  <dc:creator>PptxGenJS</dc:creator>
</cp:coreProperties>
</file>